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66" r:id="rId6"/>
    <p:sldId id="268" r:id="rId7"/>
    <p:sldId id="267" r:id="rId8"/>
    <p:sldId id="259" r:id="rId9"/>
    <p:sldId id="260" r:id="rId10"/>
    <p:sldId id="262" r:id="rId11"/>
    <p:sldId id="270" r:id="rId12"/>
    <p:sldId id="263" r:id="rId13"/>
    <p:sldId id="269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3CD1-260B-4688-9C91-D7EAD20A9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17937-EF6F-400D-B9B4-2ECF10845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DE6F1-847F-4C39-A9ED-86952A2DC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895D5-4B24-4642-90E3-A162318A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EF85D-6216-4E3F-A55B-0CEF9ADA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5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9D19C-388F-482D-A578-879099D4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91CB1-D337-4EEA-B62F-AAFDD4E7B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1E67F-E609-4FC6-A65D-E9F24564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68DEF-B868-46E2-8C67-6D2492F3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EFD6-B06F-46A1-827B-2E6F5AEC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50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9C44-5301-4286-B3E8-6B829CE6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22733-C3ED-4A8C-8F69-EA4AE3B6E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50E0C-B9CE-4215-923E-A15B8F61A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DCAF9-575A-4E8A-9F78-791295EC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7A3F6-6652-413B-9021-C1924EE0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DA4D7-649B-4F60-A0B2-9040D01C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93F24-3ED7-48A1-9504-0326CF1AE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02428-072F-476A-A5EA-FEE4FA5F5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7D3DC-170D-4C87-A78F-09B6AE48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D8685-DB51-43BF-B383-EFAB01552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9E4DE-468A-4C05-805D-5ACD3EAE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2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2C0AD-3BCA-44DA-8984-0AD3E49D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57D17-93E2-4C15-B2D6-47C89C92F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9547E-3EBA-4AB8-8DAB-98A22B6A3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5C892-24A3-4A17-8976-379E4923F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E6186A-4249-4560-B625-4B7D3AE0B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3CACD7-9F7F-40AE-B725-04C870AA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E835C-12E3-4A5E-8BE1-104CC02F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82A3F-7B35-4032-83A9-A6726C73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74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D674-B2F6-445E-B8FF-9818B8B48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39DC29-0C11-43D3-9998-09FACC036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86B78-649E-41D3-82DB-E686308F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4AD6A-46EB-4F95-9CC0-07CD12B6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2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87C46-0EA3-4DF5-A330-A29A78F3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9FAFD-D11D-4BAC-B796-55B43368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2C49D-E903-40D4-9014-4690CD11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2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7063-3221-42A1-AC18-E25C63703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D75B8-DFAA-4F07-897A-5AAD9A7A5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A2B42-D1CF-4F37-8FCE-D02B80086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F763F-CDCE-493B-910A-1CC5D090B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2CCC5-6D90-42B8-8FF0-66A6C11A5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BE329-65C5-49D2-A192-6E4FD12A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C1704-72DA-4F96-AC78-201E05289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20478D-7495-44A9-BB1C-A21E926F9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AB7A5-705D-4AF7-AC2D-E907780EB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6E1D5-7FB1-4613-B0B6-9CAEDB8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11F5F-585F-4D2D-8D2B-13A6177CD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08AB7-0FDA-428C-B47F-B31256DC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2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08A8-A416-4FB5-BF3C-DA292628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56C24-B908-4893-8A7E-FA04FDFCA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9E1D8-2BC0-4934-926B-260A73E8C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6C82F-62E7-4C6D-BE4C-E89901E51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AE3C0-5C07-427A-B354-178A7ABA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2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CE6B8-679E-47CC-90F6-280340F50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4DE29-07AF-435C-8142-7F9CF3FA6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E2322-779F-4DA3-855F-A620D34CF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C7E5F-AF67-40E2-A120-6FE68D6E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0A296-F557-49AF-B04E-93072F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87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679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783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32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441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997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98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392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83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81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3157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8789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165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8552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1155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3553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36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8345C-4807-49AE-94E3-9E68B9F3C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0F2C2-4B1F-4C52-8F87-5153A098B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F4560-6A2E-4EE6-A446-F4A06A9C8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EBDBA-EAD9-4C19-9D7D-98BDA44F6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5F83C-B18C-4D1A-88B6-179132CE5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1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4D500F1-5DDF-4EE5-9426-F86C23BDF55D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BD3B6C-D139-43C0-97C4-31D84C73F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05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19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6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826A-A0BD-4F3D-B862-A863291E6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0581" y="1838035"/>
            <a:ext cx="7730838" cy="33620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Image Classification</a:t>
            </a:r>
            <a:br>
              <a:rPr lang="en-US" b="1" dirty="0"/>
            </a:br>
            <a:r>
              <a:rPr lang="en-US" b="1" dirty="0"/>
              <a:t>(</a:t>
            </a:r>
            <a:r>
              <a:rPr lang="en-US" sz="4800" b="1" dirty="0"/>
              <a:t>Face Recognition) 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sz="2700" dirty="0"/>
              <a:t>Memo Ghazi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7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249D-A658-41A5-AEE0-A57CA930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Classification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CF8CA-EEEF-40FF-ADBE-472FE0086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Airplane</a:t>
            </a:r>
          </a:p>
          <a:p>
            <a:r>
              <a:rPr lang="en-US" dirty="0"/>
              <a:t>Car</a:t>
            </a:r>
          </a:p>
          <a:p>
            <a:r>
              <a:rPr lang="en-US" dirty="0"/>
              <a:t>Bird</a:t>
            </a:r>
          </a:p>
          <a:p>
            <a:r>
              <a:rPr lang="en-US" dirty="0"/>
              <a:t>Dog</a:t>
            </a:r>
          </a:p>
          <a:p>
            <a:r>
              <a:rPr lang="en-US" dirty="0"/>
              <a:t>Cat</a:t>
            </a:r>
          </a:p>
          <a:p>
            <a:r>
              <a:rPr lang="en-US" dirty="0"/>
              <a:t>Frog</a:t>
            </a:r>
          </a:p>
        </p:txBody>
      </p:sp>
      <p:pic>
        <p:nvPicPr>
          <p:cNvPr id="2052" name="Picture 4" descr="Stages of a Cat's Life – Primal Pet Foods">
            <a:extLst>
              <a:ext uri="{FF2B5EF4-FFF2-40B4-BE49-F238E27FC236}">
                <a16:creationId xmlns:a16="http://schemas.microsoft.com/office/drawing/2014/main" id="{0C34079E-06EB-42D8-9239-DDD515C1B5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21" t="88"/>
          <a:stretch/>
        </p:blipFill>
        <p:spPr bwMode="auto">
          <a:xfrm>
            <a:off x="4747490" y="2006600"/>
            <a:ext cx="2938941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319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159E0-E608-4995-9C75-3C29D920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560357" cy="617538"/>
          </a:xfrm>
        </p:spPr>
        <p:txBody>
          <a:bodyPr/>
          <a:lstStyle/>
          <a:p>
            <a:r>
              <a:rPr lang="en-US" b="1" dirty="0"/>
              <a:t>Image Classification with simple Neural Network</a:t>
            </a:r>
          </a:p>
        </p:txBody>
      </p:sp>
      <p:pic>
        <p:nvPicPr>
          <p:cNvPr id="4098" name="Picture 2" descr="Student Notes: Neural Networks and Deep Learning – Belajar Pembelajaran  Mesin Indonesia">
            <a:extLst>
              <a:ext uri="{FF2B5EF4-FFF2-40B4-BE49-F238E27FC236}">
                <a16:creationId xmlns:a16="http://schemas.microsoft.com/office/drawing/2014/main" id="{9302F273-7696-410D-8559-4781BE0B6E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80370" y="2118951"/>
            <a:ext cx="5819775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90A1D-393F-4ED1-A880-32E9A35A7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293091"/>
            <a:ext cx="8802976" cy="4575897"/>
          </a:xfrm>
        </p:spPr>
        <p:txBody>
          <a:bodyPr>
            <a:normAutofit/>
          </a:bodyPr>
          <a:lstStyle/>
          <a:p>
            <a:r>
              <a:rPr lang="en-US" dirty="0"/>
              <a:t>How many parameters do we have in the first layer of NN if we want the output with the size of 1000?</a:t>
            </a:r>
          </a:p>
          <a:p>
            <a:r>
              <a:rPr lang="en-US" dirty="0"/>
              <a:t>Size =  1000*1000*3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What is the drawback of simple NN?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 of calculation</a:t>
            </a:r>
          </a:p>
        </p:txBody>
      </p:sp>
      <p:pic>
        <p:nvPicPr>
          <p:cNvPr id="4100" name="Picture 4" descr="Ligament and Tendon Conditions in Cats - Symptoms, Causes, Diagnosis,  Treatment, Recovery, Management, Cost">
            <a:extLst>
              <a:ext uri="{FF2B5EF4-FFF2-40B4-BE49-F238E27FC236}">
                <a16:creationId xmlns:a16="http://schemas.microsoft.com/office/drawing/2014/main" id="{F595FF53-B77E-4A16-98F8-2D57BFA820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2" t="1" r="34842" b="23250"/>
          <a:stretch/>
        </p:blipFill>
        <p:spPr bwMode="auto">
          <a:xfrm>
            <a:off x="1016776" y="1966913"/>
            <a:ext cx="2095619" cy="213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653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8A507B9-77BE-4D0F-BC94-56221543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Kernel (filter)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905D5D2-16DB-455A-BF69-C1F6E5B780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51217" y="1172146"/>
            <a:ext cx="6619940" cy="2587053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21A4410-46B8-40CE-8CA2-12447F7EC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82857" y="5237018"/>
            <a:ext cx="6413725" cy="988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Edge detection filter (horizontal, vertical)</a:t>
            </a:r>
          </a:p>
          <a:p>
            <a:r>
              <a:rPr lang="en-US" dirty="0"/>
              <a:t>https://setosa.io/ev/image-kernels/</a:t>
            </a:r>
          </a:p>
        </p:txBody>
      </p:sp>
      <p:pic>
        <p:nvPicPr>
          <p:cNvPr id="5124" name="Picture 4" descr="Convolutional Neural Networks - Basics · Machine Learning Notebook">
            <a:extLst>
              <a:ext uri="{FF2B5EF4-FFF2-40B4-BE49-F238E27FC236}">
                <a16:creationId xmlns:a16="http://schemas.microsoft.com/office/drawing/2014/main" id="{E505C819-AB3D-42A7-A664-9CF85277C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843" y="2921340"/>
            <a:ext cx="5317612" cy="249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50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00DC-8252-4683-8EEB-3E672DF3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Pooling</a:t>
            </a:r>
          </a:p>
        </p:txBody>
      </p:sp>
      <p:pic>
        <p:nvPicPr>
          <p:cNvPr id="7170" name="Picture 2" descr="Max Pooling Explained | Papers With Code">
            <a:extLst>
              <a:ext uri="{FF2B5EF4-FFF2-40B4-BE49-F238E27FC236}">
                <a16:creationId xmlns:a16="http://schemas.microsoft.com/office/drawing/2014/main" id="{90A844E6-8C5C-44E1-A164-4BDAF9562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996" y="1938337"/>
            <a:ext cx="714375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72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489C42-72CE-4FDC-8C9F-CE7E088DF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Convolutional Neural Network</a:t>
            </a:r>
          </a:p>
        </p:txBody>
      </p:sp>
      <p:pic>
        <p:nvPicPr>
          <p:cNvPr id="6150" name="Picture 6" descr="Convolutional Neural Networks – Cezanne Camacho – Machine and deep learning  educator.">
            <a:extLst>
              <a:ext uri="{FF2B5EF4-FFF2-40B4-BE49-F238E27FC236}">
                <a16:creationId xmlns:a16="http://schemas.microsoft.com/office/drawing/2014/main" id="{CBEF9268-3D3D-4E23-8CAF-A1D5A9367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2699327"/>
            <a:ext cx="9339992" cy="3191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34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0578-EDB3-4449-BDF0-4C39293C9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A7604-7F57-4000-B052-65E7C84EA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Face recognition</a:t>
            </a:r>
          </a:p>
          <a:p>
            <a:r>
              <a:rPr lang="en-US" dirty="0"/>
              <a:t>We have a numerous class</a:t>
            </a:r>
          </a:p>
          <a:p>
            <a:r>
              <a:rPr lang="en-US" dirty="0"/>
              <a:t>Limited number of sample for each class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Siamese Network</a:t>
            </a:r>
          </a:p>
          <a:p>
            <a:pPr marL="0" indent="0">
              <a:buNone/>
            </a:pPr>
            <a:r>
              <a:rPr lang="en-US" b="1" dirty="0"/>
              <a:t>Triple loss function</a:t>
            </a:r>
          </a:p>
        </p:txBody>
      </p:sp>
    </p:spTree>
    <p:extLst>
      <p:ext uri="{BB962C8B-B14F-4D97-AF65-F5344CB8AC3E}">
        <p14:creationId xmlns:p14="http://schemas.microsoft.com/office/powerpoint/2010/main" val="2220406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CA88C-997C-46EC-AC44-2246E6F6F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Single shot classification or limited shots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2C7A48-71E7-4B75-BD39-F25561084E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723" y="2484725"/>
            <a:ext cx="1401979" cy="140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- 69927] | Inception | Leonardo dicaprio, Leonardo dicaprio movies,  Leo dicaprio">
            <a:extLst>
              <a:ext uri="{FF2B5EF4-FFF2-40B4-BE49-F238E27FC236}">
                <a16:creationId xmlns:a16="http://schemas.microsoft.com/office/drawing/2014/main" id="{86CD1095-5CC2-4C4C-B9BD-0CF5990BB0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5"/>
          <a:stretch/>
        </p:blipFill>
        <p:spPr bwMode="auto">
          <a:xfrm>
            <a:off x="9623819" y="1932293"/>
            <a:ext cx="1118538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pp to Play Art Dealer Opposite Paltrow - artnet News">
            <a:extLst>
              <a:ext uri="{FF2B5EF4-FFF2-40B4-BE49-F238E27FC236}">
                <a16:creationId xmlns:a16="http://schemas.microsoft.com/office/drawing/2014/main" id="{22C1727F-A527-49E7-A073-C5005BEED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207" y="2484725"/>
            <a:ext cx="1401979" cy="140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tt lined up for Hollywood version of State of Play | Movies | The Guardian">
            <a:extLst>
              <a:ext uri="{FF2B5EF4-FFF2-40B4-BE49-F238E27FC236}">
                <a16:creationId xmlns:a16="http://schemas.microsoft.com/office/drawing/2014/main" id="{DEA735FA-04D0-4CB8-B9E4-22F17599F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454" y="3886704"/>
            <a:ext cx="1192428" cy="1192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ngelina Jolie (@JoliePrivate) / Twitter">
            <a:extLst>
              <a:ext uri="{FF2B5EF4-FFF2-40B4-BE49-F238E27FC236}">
                <a16:creationId xmlns:a16="http://schemas.microsoft.com/office/drawing/2014/main" id="{1506B584-DC4E-44A1-A451-FC9A6DD78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465" y="2484725"/>
            <a:ext cx="1401979" cy="140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Why Nicole Kidman's hair is causing waves in The Undoing">
            <a:extLst>
              <a:ext uri="{FF2B5EF4-FFF2-40B4-BE49-F238E27FC236}">
                <a16:creationId xmlns:a16="http://schemas.microsoft.com/office/drawing/2014/main" id="{3B634005-799D-4A0D-8047-4A4FA1EDD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950" y="2487034"/>
            <a:ext cx="1401979" cy="140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61C714E-4D8B-4189-A54F-34587FEDD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239" y="2907362"/>
            <a:ext cx="700990" cy="70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875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33C2-3844-471D-9487-1AB2DACF1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the similarity 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3C711-EA04-43CA-A0F0-CCC7F0911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Distance function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 get two images and give a number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D(             ,             ) &gt; </a:t>
            </a:r>
            <a:r>
              <a:rPr lang="hy-AM" dirty="0"/>
              <a:t>Շ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D(             ,             ) ≤ </a:t>
            </a:r>
            <a:r>
              <a:rPr lang="hy-AM" dirty="0"/>
              <a:t>Շ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Goal: Try to make this function in a way that images related</a:t>
            </a:r>
          </a:p>
          <a:p>
            <a:pPr marL="0" indent="0">
              <a:buNone/>
            </a:pPr>
            <a:r>
              <a:rPr lang="en-US" dirty="0"/>
              <a:t> to one person has the low distance to each other.</a:t>
            </a:r>
          </a:p>
        </p:txBody>
      </p:sp>
      <p:pic>
        <p:nvPicPr>
          <p:cNvPr id="4" name="Picture 6" descr="Image - 69927] | Inception | Leonardo dicaprio, Leonardo dicaprio movies,  Leo dicaprio">
            <a:extLst>
              <a:ext uri="{FF2B5EF4-FFF2-40B4-BE49-F238E27FC236}">
                <a16:creationId xmlns:a16="http://schemas.microsoft.com/office/drawing/2014/main" id="{A6DC509A-9C36-472A-961B-01F717A4DF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5"/>
          <a:stretch/>
        </p:blipFill>
        <p:spPr bwMode="auto">
          <a:xfrm>
            <a:off x="2333784" y="2592963"/>
            <a:ext cx="563227" cy="66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Pitt lined up for Hollywood version of State of Play | Movies | The Guardian">
            <a:extLst>
              <a:ext uri="{FF2B5EF4-FFF2-40B4-BE49-F238E27FC236}">
                <a16:creationId xmlns:a16="http://schemas.microsoft.com/office/drawing/2014/main" id="{65B9FE32-59C7-43D6-8C04-6CAD3E618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597" y="2592963"/>
            <a:ext cx="667473" cy="66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mage - 69927] | Inception | Leonardo dicaprio, Leonardo dicaprio movies,  Leo dicaprio">
            <a:extLst>
              <a:ext uri="{FF2B5EF4-FFF2-40B4-BE49-F238E27FC236}">
                <a16:creationId xmlns:a16="http://schemas.microsoft.com/office/drawing/2014/main" id="{0E822ABB-D71D-4F2E-8FEA-B259006B02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5"/>
          <a:stretch/>
        </p:blipFill>
        <p:spPr bwMode="auto">
          <a:xfrm>
            <a:off x="2333784" y="3717491"/>
            <a:ext cx="563227" cy="66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3B3C5B8-DA78-4448-847D-CF45FE2C6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598" y="3717491"/>
            <a:ext cx="667472" cy="66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1C0412D-DF95-425E-A187-33A1ABB9213D}"/>
              </a:ext>
            </a:extLst>
          </p:cNvPr>
          <p:cNvGrpSpPr/>
          <p:nvPr/>
        </p:nvGrpSpPr>
        <p:grpSpPr>
          <a:xfrm>
            <a:off x="9929993" y="1375207"/>
            <a:ext cx="1218298" cy="4351338"/>
            <a:chOff x="9708321" y="538598"/>
            <a:chExt cx="1404288" cy="606020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E8AA5C69-EC61-4CE1-BEBA-D9D1DAFDE4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0630" y="538598"/>
              <a:ext cx="1401979" cy="1401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Depp to Play Art Dealer Opposite Paltrow - artnet News">
              <a:extLst>
                <a:ext uri="{FF2B5EF4-FFF2-40B4-BE49-F238E27FC236}">
                  <a16:creationId xmlns:a16="http://schemas.microsoft.com/office/drawing/2014/main" id="{CD0DA4A3-13FB-4717-B03E-7EA448131D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0630" y="3644082"/>
              <a:ext cx="1401979" cy="1401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Angelina Jolie (@JoliePrivate) / Twitter">
              <a:extLst>
                <a:ext uri="{FF2B5EF4-FFF2-40B4-BE49-F238E27FC236}">
                  <a16:creationId xmlns:a16="http://schemas.microsoft.com/office/drawing/2014/main" id="{AA90222A-5CE5-4D02-8E74-FD7F33879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0630" y="2091340"/>
              <a:ext cx="1401979" cy="1401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4" descr="Why Nicole Kidman's hair is causing waves in The Undoing">
              <a:extLst>
                <a:ext uri="{FF2B5EF4-FFF2-40B4-BE49-F238E27FC236}">
                  <a16:creationId xmlns:a16="http://schemas.microsoft.com/office/drawing/2014/main" id="{02F6AE8A-90A9-49C6-8DC5-9B63B86221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8321" y="5196825"/>
              <a:ext cx="1401979" cy="1401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Callout: Left-Right Arrow 14" descr="77&#10;">
            <a:extLst>
              <a:ext uri="{FF2B5EF4-FFF2-40B4-BE49-F238E27FC236}">
                <a16:creationId xmlns:a16="http://schemas.microsoft.com/office/drawing/2014/main" id="{21F52C17-E940-462D-B345-067276EE1627}"/>
              </a:ext>
            </a:extLst>
          </p:cNvPr>
          <p:cNvSpPr/>
          <p:nvPr/>
        </p:nvSpPr>
        <p:spPr>
          <a:xfrm rot="1086638">
            <a:off x="8324387" y="3741692"/>
            <a:ext cx="1344321" cy="285994"/>
          </a:xfrm>
          <a:prstGeom prst="leftRightArrowCallout">
            <a:avLst>
              <a:gd name="adj1" fmla="val 25000"/>
              <a:gd name="adj2" fmla="val 25000"/>
              <a:gd name="adj3" fmla="val 51087"/>
              <a:gd name="adj4" fmla="val 1955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16" name="Picture 6" descr="Image - 69927] | Inception | Leonardo dicaprio, Leonardo dicaprio movies,  Leo dicaprio">
            <a:extLst>
              <a:ext uri="{FF2B5EF4-FFF2-40B4-BE49-F238E27FC236}">
                <a16:creationId xmlns:a16="http://schemas.microsoft.com/office/drawing/2014/main" id="{A794E6E8-2BF2-44BF-8BAB-73D3F547EF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5"/>
          <a:stretch/>
        </p:blipFill>
        <p:spPr bwMode="auto">
          <a:xfrm>
            <a:off x="6956749" y="2830082"/>
            <a:ext cx="1050641" cy="124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llout: Left-Right Arrow 16" descr="77&#10;">
            <a:extLst>
              <a:ext uri="{FF2B5EF4-FFF2-40B4-BE49-F238E27FC236}">
                <a16:creationId xmlns:a16="http://schemas.microsoft.com/office/drawing/2014/main" id="{5EEF1134-F0C5-4F29-BB2F-60A450F66CB0}"/>
              </a:ext>
            </a:extLst>
          </p:cNvPr>
          <p:cNvSpPr/>
          <p:nvPr/>
        </p:nvSpPr>
        <p:spPr>
          <a:xfrm rot="21125820">
            <a:off x="8330085" y="3117438"/>
            <a:ext cx="1344321" cy="285994"/>
          </a:xfrm>
          <a:prstGeom prst="leftRightArrowCallout">
            <a:avLst>
              <a:gd name="adj1" fmla="val 25000"/>
              <a:gd name="adj2" fmla="val 25000"/>
              <a:gd name="adj3" fmla="val 51087"/>
              <a:gd name="adj4" fmla="val 1955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8" name="Callout: Left-Right Arrow 17" descr="77&#10;">
            <a:extLst>
              <a:ext uri="{FF2B5EF4-FFF2-40B4-BE49-F238E27FC236}">
                <a16:creationId xmlns:a16="http://schemas.microsoft.com/office/drawing/2014/main" id="{3A94F546-8C11-42DE-80BE-535D721B3D6A}"/>
              </a:ext>
            </a:extLst>
          </p:cNvPr>
          <p:cNvSpPr/>
          <p:nvPr/>
        </p:nvSpPr>
        <p:spPr>
          <a:xfrm rot="1780301">
            <a:off x="8324388" y="4431405"/>
            <a:ext cx="1344321" cy="285994"/>
          </a:xfrm>
          <a:prstGeom prst="leftRightArrowCallout">
            <a:avLst>
              <a:gd name="adj1" fmla="val 25000"/>
              <a:gd name="adj2" fmla="val 25000"/>
              <a:gd name="adj3" fmla="val 51087"/>
              <a:gd name="adj4" fmla="val 1955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Callout: Left-Right Arrow 18" descr="77&#10;">
            <a:extLst>
              <a:ext uri="{FF2B5EF4-FFF2-40B4-BE49-F238E27FC236}">
                <a16:creationId xmlns:a16="http://schemas.microsoft.com/office/drawing/2014/main" id="{2513D52B-7A02-45DB-B769-5A6420AAD59A}"/>
              </a:ext>
            </a:extLst>
          </p:cNvPr>
          <p:cNvSpPr/>
          <p:nvPr/>
        </p:nvSpPr>
        <p:spPr>
          <a:xfrm rot="20326934">
            <a:off x="8190453" y="2407865"/>
            <a:ext cx="1566543" cy="290337"/>
          </a:xfrm>
          <a:prstGeom prst="leftRightArrowCallout">
            <a:avLst>
              <a:gd name="adj1" fmla="val 25000"/>
              <a:gd name="adj2" fmla="val 25000"/>
              <a:gd name="adj3" fmla="val 51087"/>
              <a:gd name="adj4" fmla="val 37262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0.1</a:t>
            </a:r>
          </a:p>
        </p:txBody>
      </p:sp>
    </p:spTree>
    <p:extLst>
      <p:ext uri="{BB962C8B-B14F-4D97-AF65-F5344CB8AC3E}">
        <p14:creationId xmlns:p14="http://schemas.microsoft.com/office/powerpoint/2010/main" val="1336225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F95A-3872-4645-88D3-88B0D0F3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Triple loss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E818B-D30C-42CB-BC54-48F36ACBA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836" y="3921661"/>
            <a:ext cx="9984509" cy="45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</a:t>
            </a:r>
            <a:r>
              <a:rPr lang="en-US" sz="2000" dirty="0"/>
              <a:t>nchor                </a:t>
            </a:r>
            <a:r>
              <a:rPr lang="en-US" sz="2000" b="1" dirty="0"/>
              <a:t>p</a:t>
            </a:r>
            <a:r>
              <a:rPr lang="en-US" sz="2000" dirty="0"/>
              <a:t>ositive                                        	              </a:t>
            </a:r>
            <a:r>
              <a:rPr lang="en-US" sz="2000" b="1" dirty="0"/>
              <a:t>a</a:t>
            </a:r>
            <a:r>
              <a:rPr lang="en-US" sz="2000" dirty="0"/>
              <a:t>nchor               </a:t>
            </a:r>
            <a:r>
              <a:rPr lang="en-US" sz="2000" b="1" dirty="0"/>
              <a:t>n</a:t>
            </a:r>
            <a:r>
              <a:rPr lang="en-US" sz="2000" dirty="0"/>
              <a:t>egative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C2D32-B7FB-450D-B4E1-4F652EE33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42" y="4560101"/>
            <a:ext cx="9678751" cy="933580"/>
          </a:xfrm>
          <a:prstGeom prst="rect">
            <a:avLst/>
          </a:prstGeom>
        </p:spPr>
      </p:pic>
      <p:pic>
        <p:nvPicPr>
          <p:cNvPr id="8" name="Picture 6" descr="Image - 69927] | Inception | Leonardo dicaprio, Leonardo dicaprio movies,  Leo dicaprio">
            <a:extLst>
              <a:ext uri="{FF2B5EF4-FFF2-40B4-BE49-F238E27FC236}">
                <a16:creationId xmlns:a16="http://schemas.microsoft.com/office/drawing/2014/main" id="{C0109F35-8D1F-4710-86DF-FC84E4FD21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5"/>
          <a:stretch/>
        </p:blipFill>
        <p:spPr bwMode="auto">
          <a:xfrm>
            <a:off x="1562671" y="2709428"/>
            <a:ext cx="894202" cy="105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Pitt lined up for Hollywood version of State of Play | Movies | The Guardian">
            <a:extLst>
              <a:ext uri="{FF2B5EF4-FFF2-40B4-BE49-F238E27FC236}">
                <a16:creationId xmlns:a16="http://schemas.microsoft.com/office/drawing/2014/main" id="{A9FBA8CA-76AE-45CB-997A-270DD5576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128" y="2708935"/>
            <a:ext cx="1060201" cy="106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mage - 69927] | Inception | Leonardo dicaprio, Leonardo dicaprio movies,  Leo dicaprio">
            <a:extLst>
              <a:ext uri="{FF2B5EF4-FFF2-40B4-BE49-F238E27FC236}">
                <a16:creationId xmlns:a16="http://schemas.microsoft.com/office/drawing/2014/main" id="{D930CC88-0D2E-440D-88CE-7D745EB09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5"/>
          <a:stretch/>
        </p:blipFill>
        <p:spPr bwMode="auto">
          <a:xfrm>
            <a:off x="7877136" y="2712243"/>
            <a:ext cx="894201" cy="105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503075B8-F459-46B4-A678-364C15B02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664" y="2774083"/>
            <a:ext cx="1060201" cy="106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910D1A-29AB-4EFF-A5F5-19B713689268}"/>
              </a:ext>
            </a:extLst>
          </p:cNvPr>
          <p:cNvCxnSpPr/>
          <p:nvPr/>
        </p:nvCxnSpPr>
        <p:spPr>
          <a:xfrm flipV="1">
            <a:off x="1939636" y="4343046"/>
            <a:ext cx="0" cy="434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6707304-C7CF-48FC-A2F3-CD7F4897EC67}"/>
              </a:ext>
            </a:extLst>
          </p:cNvPr>
          <p:cNvCxnSpPr/>
          <p:nvPr/>
        </p:nvCxnSpPr>
        <p:spPr>
          <a:xfrm flipV="1">
            <a:off x="3403600" y="4304145"/>
            <a:ext cx="0" cy="434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14FF3C-7DAB-45AF-B254-E937344554FB}"/>
              </a:ext>
            </a:extLst>
          </p:cNvPr>
          <p:cNvCxnSpPr/>
          <p:nvPr/>
        </p:nvCxnSpPr>
        <p:spPr>
          <a:xfrm flipV="1">
            <a:off x="8395855" y="4304145"/>
            <a:ext cx="0" cy="434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8D17B0-318A-441A-972F-F9B8F7A69AD1}"/>
              </a:ext>
            </a:extLst>
          </p:cNvPr>
          <p:cNvCxnSpPr/>
          <p:nvPr/>
        </p:nvCxnSpPr>
        <p:spPr>
          <a:xfrm flipV="1">
            <a:off x="9781309" y="4343046"/>
            <a:ext cx="0" cy="434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44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C088-8758-461A-9874-D13AD77A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36" y="392835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292929"/>
                </a:solidFill>
                <a:effectLst/>
                <a:latin typeface="source-serif-pro"/>
              </a:rPr>
              <a:t>Siamese Networks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C8AE3-29BA-4D5C-B3AB-9845DC6CD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903393"/>
          </a:xfrm>
        </p:spPr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Siamese Networks are a class of neural networks capable of one-shot learning.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we stop with the dense layers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only one network</a:t>
            </a:r>
            <a:r>
              <a:rPr lang="en-US" dirty="0">
                <a:solidFill>
                  <a:srgbClr val="292929"/>
                </a:solidFill>
                <a:latin typeface="source-serif-pro"/>
              </a:rPr>
              <a:t> for all images</a:t>
            </a:r>
            <a:endParaRPr lang="en-US" dirty="0"/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EB5C1B92-A883-4486-B90B-2E331AC70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00" y="1736147"/>
            <a:ext cx="5173510" cy="308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2066D2-D298-4854-B5C4-C377D2B33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848" y="5021841"/>
            <a:ext cx="9365472" cy="82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52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40BF-FC61-442E-829F-76AD46804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Transfer learning</a:t>
            </a:r>
          </a:p>
        </p:txBody>
      </p:sp>
      <p:pic>
        <p:nvPicPr>
          <p:cNvPr id="8194" name="Picture 2" descr="Transfer Learning Guide: A Practical Tutorial With Examples for Images and  Text in Keras - neptune.ai">
            <a:extLst>
              <a:ext uri="{FF2B5EF4-FFF2-40B4-BE49-F238E27FC236}">
                <a16:creationId xmlns:a16="http://schemas.microsoft.com/office/drawing/2014/main" id="{2BC000D9-9841-4A26-84E0-FE4533C4E2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773" y="1690688"/>
            <a:ext cx="5562600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384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C06FE-ECF5-44D0-8FE4-B603DA8D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92FEC-30FE-4A5B-BB5E-921FBC04E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32339"/>
          </a:xfrm>
        </p:spPr>
        <p:txBody>
          <a:bodyPr/>
          <a:lstStyle/>
          <a:p>
            <a:r>
              <a:rPr lang="en-US" b="0" i="0" dirty="0">
                <a:effectLst/>
                <a:latin typeface="Inter"/>
              </a:rPr>
              <a:t>Database of faces </a:t>
            </a:r>
            <a:r>
              <a:rPr lang="en-US" dirty="0">
                <a:latin typeface="Inter"/>
              </a:rPr>
              <a:t>Provide by </a:t>
            </a:r>
            <a:r>
              <a:rPr lang="en-US" b="0" i="0" dirty="0">
                <a:effectLst/>
                <a:latin typeface="Inter"/>
              </a:rPr>
              <a:t>AT&amp;T Laboratories Cambridge </a:t>
            </a:r>
            <a:r>
              <a:rPr lang="en-US" dirty="0">
                <a:latin typeface="Inter"/>
              </a:rPr>
              <a:t>on Kaggle</a:t>
            </a:r>
          </a:p>
          <a:p>
            <a:r>
              <a:rPr lang="en-US" b="0" i="0" dirty="0">
                <a:effectLst/>
                <a:latin typeface="Inter"/>
              </a:rPr>
              <a:t>There are 400 different images of each of 40 distinct subjects.</a:t>
            </a:r>
          </a:p>
          <a:p>
            <a:r>
              <a:rPr lang="en-US" b="0" i="0" dirty="0">
                <a:effectLst/>
                <a:latin typeface="Inter"/>
              </a:rPr>
              <a:t>For some subjects, the images were taken at different times, varying the lighting, facial expressions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84408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460</TotalTime>
  <Words>259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Garamond</vt:lpstr>
      <vt:lpstr>Inter</vt:lpstr>
      <vt:lpstr>source-serif-pro</vt:lpstr>
      <vt:lpstr>Office Theme</vt:lpstr>
      <vt:lpstr>Organic</vt:lpstr>
      <vt:lpstr>Image Classification (Face Recognition)    Memo Ghazi</vt:lpstr>
      <vt:lpstr>Image Classification</vt:lpstr>
      <vt:lpstr>Image Classification with simple Neural Network</vt:lpstr>
      <vt:lpstr>Kernel (filter)</vt:lpstr>
      <vt:lpstr>Pooling</vt:lpstr>
      <vt:lpstr>Convolutional Neural Network</vt:lpstr>
      <vt:lpstr>Image Classification</vt:lpstr>
      <vt:lpstr>Single shot classification or limited shots</vt:lpstr>
      <vt:lpstr>Learning the similarity factor</vt:lpstr>
      <vt:lpstr>Triple loss function</vt:lpstr>
      <vt:lpstr>Siamese Networks</vt:lpstr>
      <vt:lpstr>Transfer learning</vt:lpstr>
      <vt:lpstr>Implementation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17</cp:revision>
  <dcterms:created xsi:type="dcterms:W3CDTF">2022-10-30T11:19:26Z</dcterms:created>
  <dcterms:modified xsi:type="dcterms:W3CDTF">2022-10-30T21:59:11Z</dcterms:modified>
</cp:coreProperties>
</file>