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66" r:id="rId6"/>
    <p:sldId id="271" r:id="rId7"/>
    <p:sldId id="268" r:id="rId8"/>
    <p:sldId id="267" r:id="rId9"/>
    <p:sldId id="259" r:id="rId10"/>
    <p:sldId id="260" r:id="rId11"/>
    <p:sldId id="262" r:id="rId12"/>
    <p:sldId id="270" r:id="rId13"/>
    <p:sldId id="263" r:id="rId14"/>
    <p:sldId id="269" r:id="rId15"/>
    <p:sldId id="26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F3CD1-260B-4688-9C91-D7EAD20A9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17937-EF6F-400D-B9B4-2ECF108456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DE6F1-847F-4C39-A9ED-86952A2DC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895D5-4B24-4642-90E3-A162318A7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EF85D-6216-4E3F-A55B-0CEF9ADA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53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9D19C-388F-482D-A578-879099D4E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91CB1-D337-4EEA-B62F-AAFDD4E7B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E67F-E609-4FC6-A65D-E9F245640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68DEF-B868-46E2-8C67-6D2492F3A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BEFD6-B06F-46A1-827B-2E6F5AEC8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650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29C44-5301-4286-B3E8-6B829CE69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22733-C3ED-4A8C-8F69-EA4AE3B6EA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50E0C-B9CE-4215-923E-A15B8F61A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DCAF9-575A-4E8A-9F78-791295EC2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3F6-6652-413B-9021-C1924EE0A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8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DA4D7-649B-4F60-A0B2-9040D01C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93F24-3ED7-48A1-9504-0326CF1AE2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02428-072F-476A-A5EA-FEE4FA5F54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E7D3DC-170D-4C87-A78F-09B6AE480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D8685-DB51-43BF-B383-EFAB01552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C9E4DE-468A-4C05-805D-5ACD3EAE9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927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2C0AD-3BCA-44DA-8984-0AD3E49D3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57D17-93E2-4C15-B2D6-47C89C92F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E9547E-3EBA-4AB8-8DAB-98A22B6A3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05C892-24A3-4A17-8976-379E4923F7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E6186A-4249-4560-B625-4B7D3AE0B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3CACD7-9F7F-40AE-B725-04C870AA3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6E835C-12E3-4A5E-8BE1-104CC02FB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F82A3F-7B35-4032-83A9-A6726C73A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074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5D674-B2F6-445E-B8FF-9818B8B48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39DC29-0C11-43D3-9998-09FACC036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186B78-649E-41D3-82DB-E686308F5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F4AD6A-46EB-4F95-9CC0-07CD12B6F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924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C87C46-0EA3-4DF5-A330-A29A78F30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9FAFD-D11D-4BAC-B796-55B43368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C2C49D-E903-40D4-9014-4690CD11F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72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37063-3221-42A1-AC18-E25C63703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D75B8-DFAA-4F07-897A-5AAD9A7A50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1A2B42-D1CF-4F37-8FCE-D02B800862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0F763F-CDCE-493B-910A-1CC5D090B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E2CCC5-6D90-42B8-8FF0-66A6C11A5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ABE329-65C5-49D2-A192-6E4FD12AF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7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C1704-72DA-4F96-AC78-201E05289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0478D-7495-44A9-BB1C-A21E926F92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7AB7A5-705D-4AF7-AC2D-E907780EB7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6E1D5-7FB1-4613-B0B6-9CAEDB889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11F5F-585F-4D2D-8D2B-13A6177CD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008AB7-0FDA-428C-B47F-B31256DC4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5201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608A8-A416-4FB5-BF3C-DA2926284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C56C24-B908-4893-8A7E-FA04FDFCA5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59E1D8-2BC0-4934-926B-260A73E8C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6C82F-62E7-4C6D-BE4C-E89901E51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AE3C0-5C07-427A-B354-178A7ABA6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223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DCE6B8-679E-47CC-90F6-280340F50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4DE29-07AF-435C-8142-7F9CF3FA6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E2322-779F-4DA3-855F-A620D34CF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7C7E5F-AF67-40E2-A120-6FE68D6E2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0A296-F557-49AF-B04E-93072F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870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96793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731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7836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932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54414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9971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1981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3920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3835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2813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3157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98789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165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8552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1155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3553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136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B8345C-4807-49AE-94E3-9E68B9F3C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0F2C2-4B1F-4C52-8F87-5153A098B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F4560-6A2E-4EE6-A446-F4A06A9C87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EBDBA-EAD9-4C19-9D7D-98BDA44F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35F83C-B18C-4D1A-88B6-179132CE5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91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4D500F1-5DDF-4EE5-9426-F86C23BDF55D}" type="datetimeFigureOut">
              <a:rPr lang="en-US" smtClean="0"/>
              <a:t>10/31/2022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1BD3B6C-D139-43C0-97C4-31D84C73F6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05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7" Type="http://schemas.openxmlformats.org/officeDocument/2006/relationships/image" Target="../media/image25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2.jpeg"/><Relationship Id="rId4" Type="http://schemas.openxmlformats.org/officeDocument/2006/relationships/image" Target="../media/image2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5" Type="http://schemas.openxmlformats.org/officeDocument/2006/relationships/image" Target="../media/image23.jpeg"/><Relationship Id="rId4" Type="http://schemas.openxmlformats.org/officeDocument/2006/relationships/image" Target="../media/image2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8826A-A0BD-4F3D-B862-A863291E61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0581" y="1838035"/>
            <a:ext cx="7730838" cy="3362037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Image Classification</a:t>
            </a:r>
            <a:br>
              <a:rPr lang="en-US" b="1" dirty="0"/>
            </a:br>
            <a:r>
              <a:rPr lang="en-US" b="1" dirty="0"/>
              <a:t>(</a:t>
            </a:r>
            <a:r>
              <a:rPr lang="en-US" sz="4800" b="1" dirty="0"/>
              <a:t>Face Recognition) </a:t>
            </a:r>
            <a:br>
              <a:rPr lang="en-US" b="1" dirty="0"/>
            </a:br>
            <a:br>
              <a:rPr lang="en-US" b="1" dirty="0"/>
            </a:br>
            <a:br>
              <a:rPr lang="en-US" b="1" dirty="0"/>
            </a:br>
            <a:r>
              <a:rPr lang="en-US" sz="2700" dirty="0"/>
              <a:t>Memo Ghazi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671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E249D-A658-41A5-AEE0-A57CA9309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Classification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5CF8CA-EEEF-40FF-ADBE-472FE00865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Car                            ….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Dog                           ….</a:t>
            </a:r>
          </a:p>
          <a:p>
            <a:endParaRPr lang="en-US" dirty="0"/>
          </a:p>
          <a:p>
            <a:r>
              <a:rPr lang="en-US" dirty="0"/>
              <a:t>Cat                            ….</a:t>
            </a:r>
          </a:p>
        </p:txBody>
      </p:sp>
      <p:pic>
        <p:nvPicPr>
          <p:cNvPr id="2052" name="Picture 4" descr="Stages of a Cat's Life – Primal Pet Foods">
            <a:extLst>
              <a:ext uri="{FF2B5EF4-FFF2-40B4-BE49-F238E27FC236}">
                <a16:creationId xmlns:a16="http://schemas.microsoft.com/office/drawing/2014/main" id="{0C34079E-06EB-42D8-9239-DDD515C1B5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21" t="88"/>
          <a:stretch/>
        </p:blipFill>
        <p:spPr bwMode="auto">
          <a:xfrm>
            <a:off x="2805877" y="4243627"/>
            <a:ext cx="1020237" cy="987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Change Folder Picture in Windows 10">
            <a:extLst>
              <a:ext uri="{FF2B5EF4-FFF2-40B4-BE49-F238E27FC236}">
                <a16:creationId xmlns:a16="http://schemas.microsoft.com/office/drawing/2014/main" id="{058E0089-873C-4029-99EC-2CA9C767F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4026" y="1865122"/>
            <a:ext cx="1135962" cy="1135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ange Folder Picture in Windows 10">
            <a:extLst>
              <a:ext uri="{FF2B5EF4-FFF2-40B4-BE49-F238E27FC236}">
                <a16:creationId xmlns:a16="http://schemas.microsoft.com/office/drawing/2014/main" id="{05D29FDE-96D5-4B51-B46A-7F3B3A4AB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4026" y="2976878"/>
            <a:ext cx="1135962" cy="1135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Change Folder Picture in Windows 10">
            <a:extLst>
              <a:ext uri="{FF2B5EF4-FFF2-40B4-BE49-F238E27FC236}">
                <a16:creationId xmlns:a16="http://schemas.microsoft.com/office/drawing/2014/main" id="{4E729356-0FD9-449B-840E-10832EAEB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4025" y="4075472"/>
            <a:ext cx="1135961" cy="1135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Now, Your Dog Can Feel Less Stressed and Anxious – Calming Pets Australia">
            <a:extLst>
              <a:ext uri="{FF2B5EF4-FFF2-40B4-BE49-F238E27FC236}">
                <a16:creationId xmlns:a16="http://schemas.microsoft.com/office/drawing/2014/main" id="{0777FE37-6797-43AF-A76B-2BA3E34097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6327" y="3130998"/>
            <a:ext cx="1001592" cy="1001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The greatest car that no one bought">
            <a:extLst>
              <a:ext uri="{FF2B5EF4-FFF2-40B4-BE49-F238E27FC236}">
                <a16:creationId xmlns:a16="http://schemas.microsoft.com/office/drawing/2014/main" id="{F5A21D6C-80EA-40A7-95E9-481DDE0DDF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6327" y="2031099"/>
            <a:ext cx="1001592" cy="1001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0319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159E0-E608-4995-9C75-3C29D9206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1"/>
            <a:ext cx="9560357" cy="617538"/>
          </a:xfrm>
        </p:spPr>
        <p:txBody>
          <a:bodyPr/>
          <a:lstStyle/>
          <a:p>
            <a:r>
              <a:rPr lang="en-US" b="1" dirty="0"/>
              <a:t>Image Classification with simple Neural Network</a:t>
            </a:r>
          </a:p>
        </p:txBody>
      </p:sp>
      <p:pic>
        <p:nvPicPr>
          <p:cNvPr id="4098" name="Picture 2" descr="Student Notes: Neural Networks and Deep Learning – Belajar Pembelajaran  Mesin Indonesia">
            <a:extLst>
              <a:ext uri="{FF2B5EF4-FFF2-40B4-BE49-F238E27FC236}">
                <a16:creationId xmlns:a16="http://schemas.microsoft.com/office/drawing/2014/main" id="{9302F273-7696-410D-8559-4781BE0B6E4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0370" y="2118951"/>
            <a:ext cx="5819775" cy="292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290A1D-393F-4ED1-A880-32E9A35A7F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293091"/>
            <a:ext cx="8802976" cy="4575897"/>
          </a:xfrm>
        </p:spPr>
        <p:txBody>
          <a:bodyPr>
            <a:normAutofit/>
          </a:bodyPr>
          <a:lstStyle/>
          <a:p>
            <a:r>
              <a:rPr lang="en-US" dirty="0"/>
              <a:t>How many parameters do we have in the first layer of NN if we want the output with the size of 1000?</a:t>
            </a:r>
          </a:p>
          <a:p>
            <a:r>
              <a:rPr lang="en-US" dirty="0"/>
              <a:t>Size =  1000*1000*3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What is the drawback of simple NN?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Overfitting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Volume of calculation</a:t>
            </a:r>
          </a:p>
        </p:txBody>
      </p:sp>
      <p:pic>
        <p:nvPicPr>
          <p:cNvPr id="4100" name="Picture 4" descr="Ligament and Tendon Conditions in Cats - Symptoms, Causes, Diagnosis,  Treatment, Recovery, Management, Cost">
            <a:extLst>
              <a:ext uri="{FF2B5EF4-FFF2-40B4-BE49-F238E27FC236}">
                <a16:creationId xmlns:a16="http://schemas.microsoft.com/office/drawing/2014/main" id="{F595FF53-B77E-4A16-98F8-2D57BFA820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12" t="1" r="34842" b="23250"/>
          <a:stretch/>
        </p:blipFill>
        <p:spPr bwMode="auto">
          <a:xfrm>
            <a:off x="1016776" y="1966913"/>
            <a:ext cx="2095619" cy="2134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llout: Up Arrow 2">
            <a:extLst>
              <a:ext uri="{FF2B5EF4-FFF2-40B4-BE49-F238E27FC236}">
                <a16:creationId xmlns:a16="http://schemas.microsoft.com/office/drawing/2014/main" id="{02826DE3-89BD-457B-A290-375A4AB1CAFE}"/>
              </a:ext>
            </a:extLst>
          </p:cNvPr>
          <p:cNvSpPr/>
          <p:nvPr/>
        </p:nvSpPr>
        <p:spPr>
          <a:xfrm>
            <a:off x="4580370" y="5043126"/>
            <a:ext cx="2613891" cy="1044212"/>
          </a:xfrm>
          <a:prstGeom prst="upArrowCallout">
            <a:avLst>
              <a:gd name="adj1" fmla="val 9078"/>
              <a:gd name="adj2" fmla="val 10847"/>
              <a:gd name="adj3" fmla="val 25000"/>
              <a:gd name="adj4" fmla="val 64977"/>
            </a:avLst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3,000,000*1000</a:t>
            </a:r>
          </a:p>
        </p:txBody>
      </p:sp>
    </p:spTree>
    <p:extLst>
      <p:ext uri="{BB962C8B-B14F-4D97-AF65-F5344CB8AC3E}">
        <p14:creationId xmlns:p14="http://schemas.microsoft.com/office/powerpoint/2010/main" val="860653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8A507B9-77BE-4D0F-BC94-562215436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58875"/>
          </a:xfrm>
        </p:spPr>
        <p:txBody>
          <a:bodyPr>
            <a:normAutofit/>
          </a:bodyPr>
          <a:lstStyle/>
          <a:p>
            <a:r>
              <a:rPr lang="en-US" b="1" dirty="0"/>
              <a:t>Kernel (filter)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905D5D2-16DB-455A-BF69-C1F6E5B7800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234708" y="642009"/>
            <a:ext cx="6619940" cy="2587053"/>
          </a:xfr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21A4410-46B8-40CE-8CA2-12447F7EC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08595" y="5723988"/>
            <a:ext cx="6413725" cy="988448"/>
          </a:xfrm>
        </p:spPr>
        <p:txBody>
          <a:bodyPr>
            <a:normAutofit/>
          </a:bodyPr>
          <a:lstStyle/>
          <a:p>
            <a:r>
              <a:rPr lang="en-US" dirty="0"/>
              <a:t>https://setosa.io/ev/image-kernels/</a:t>
            </a:r>
          </a:p>
        </p:txBody>
      </p:sp>
      <p:pic>
        <p:nvPicPr>
          <p:cNvPr id="5124" name="Picture 4" descr="Convolutional Neural Networks - Basics · Machine Learning Notebook">
            <a:extLst>
              <a:ext uri="{FF2B5EF4-FFF2-40B4-BE49-F238E27FC236}">
                <a16:creationId xmlns:a16="http://schemas.microsoft.com/office/drawing/2014/main" id="{E505C819-AB3D-42A7-A664-9CF85277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025" y="2538603"/>
            <a:ext cx="5317612" cy="2494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EA4E093A-5EC8-450B-AEED-980EA20D45C2}"/>
              </a:ext>
            </a:extLst>
          </p:cNvPr>
          <p:cNvSpPr txBox="1">
            <a:spLocks/>
          </p:cNvSpPr>
          <p:nvPr/>
        </p:nvSpPr>
        <p:spPr>
          <a:xfrm>
            <a:off x="838200" y="1639149"/>
            <a:ext cx="4278745" cy="49158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Edge detection filter (horizontal, vertical, …)</a:t>
            </a:r>
          </a:p>
        </p:txBody>
      </p:sp>
    </p:spTree>
    <p:extLst>
      <p:ext uri="{BB962C8B-B14F-4D97-AF65-F5344CB8AC3E}">
        <p14:creationId xmlns:p14="http://schemas.microsoft.com/office/powerpoint/2010/main" val="498509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Canny Edge Detection Step by Step in Python — Computer Vision | by Sofiane  Sahir | Towards Data Science">
            <a:extLst>
              <a:ext uri="{FF2B5EF4-FFF2-40B4-BE49-F238E27FC236}">
                <a16:creationId xmlns:a16="http://schemas.microsoft.com/office/drawing/2014/main" id="{16501F32-E64E-4864-AB88-7CBB6CB8FA33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710" y="556932"/>
            <a:ext cx="5181600" cy="3579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computer vision - Deriving edges when not continuous - Stack Overflow">
            <a:extLst>
              <a:ext uri="{FF2B5EF4-FFF2-40B4-BE49-F238E27FC236}">
                <a16:creationId xmlns:a16="http://schemas.microsoft.com/office/drawing/2014/main" id="{0B1EEB15-E3D7-49E9-8F53-9935A8E9C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193" y="1469015"/>
            <a:ext cx="3438525" cy="219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028236CA-25CA-40C1-BC06-B07AB2730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/>
              <a:t>Kernel </a:t>
            </a:r>
          </a:p>
        </p:txBody>
      </p:sp>
      <p:pic>
        <p:nvPicPr>
          <p:cNvPr id="8" name="Picture 2" descr="machine learning - Why convoloution neural net have to find filter values ?  - Cross Validated">
            <a:extLst>
              <a:ext uri="{FF2B5EF4-FFF2-40B4-BE49-F238E27FC236}">
                <a16:creationId xmlns:a16="http://schemas.microsoft.com/office/drawing/2014/main" id="{3631EEB5-6700-4BDC-BC1C-6C933622AD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4709" y="4417769"/>
            <a:ext cx="9829679" cy="1883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1608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00DC-8252-4683-8EEB-3E672DF3E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Pooling</a:t>
            </a:r>
          </a:p>
        </p:txBody>
      </p:sp>
      <p:pic>
        <p:nvPicPr>
          <p:cNvPr id="3074" name="Picture 2" descr="Pooling Layer — Short and Simple. Here's all the information you should… |  by Kartikeya Rana | Artificial Intelligence in Plain English">
            <a:extLst>
              <a:ext uri="{FF2B5EF4-FFF2-40B4-BE49-F238E27FC236}">
                <a16:creationId xmlns:a16="http://schemas.microsoft.com/office/drawing/2014/main" id="{F52BA19F-D9DF-4F7C-9B23-ADD2AC608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1326" y="2516044"/>
            <a:ext cx="8067675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BF68CDB-EA14-4C68-B373-24FE8EF69C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25211"/>
          </a:xfrm>
        </p:spPr>
        <p:txBody>
          <a:bodyPr>
            <a:normAutofit/>
          </a:bodyPr>
          <a:lstStyle/>
          <a:p>
            <a:r>
              <a:rPr lang="en-US" sz="2400" dirty="0"/>
              <a:t>Pooling layer reduces the dimensionality while preserving the critical information.</a:t>
            </a:r>
          </a:p>
        </p:txBody>
      </p:sp>
    </p:spTree>
    <p:extLst>
      <p:ext uri="{BB962C8B-B14F-4D97-AF65-F5344CB8AC3E}">
        <p14:creationId xmlns:p14="http://schemas.microsoft.com/office/powerpoint/2010/main" val="1454726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C489C42-72CE-4FDC-8C9F-CE7E088DF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Convolutional Neural Network</a:t>
            </a:r>
          </a:p>
        </p:txBody>
      </p:sp>
      <p:pic>
        <p:nvPicPr>
          <p:cNvPr id="7172" name="Picture 4" descr="An Overview of Convolutional Neural Networks | Papers With Code">
            <a:extLst>
              <a:ext uri="{FF2B5EF4-FFF2-40B4-BE49-F238E27FC236}">
                <a16:creationId xmlns:a16="http://schemas.microsoft.com/office/drawing/2014/main" id="{BE217248-5177-48C9-8EAE-32706E5BB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2471" y="1440117"/>
            <a:ext cx="9984509" cy="5341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4345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00578-EDB3-4449-BDF0-4C39293C9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Face recognition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A7604-7F57-4000-B052-65E7C84EA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Face recognition is a technology capable of matching a human face (from digital image or video frame) against a dataset of faces.</a:t>
            </a:r>
          </a:p>
          <a:p>
            <a:pPr marL="0" indent="0">
              <a:buNone/>
            </a:pPr>
            <a:r>
              <a:rPr lang="en-US" dirty="0"/>
              <a:t>Problem:</a:t>
            </a:r>
          </a:p>
          <a:p>
            <a:r>
              <a:rPr lang="en-US" dirty="0"/>
              <a:t>We have a numerous class</a:t>
            </a:r>
          </a:p>
          <a:p>
            <a:r>
              <a:rPr lang="en-US" dirty="0"/>
              <a:t>Limited number of sample for each class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Solution:</a:t>
            </a:r>
          </a:p>
          <a:p>
            <a:pPr marL="0" indent="0">
              <a:buNone/>
            </a:pPr>
            <a:r>
              <a:rPr lang="en-US" b="1" dirty="0"/>
              <a:t>Siamese Network</a:t>
            </a:r>
          </a:p>
          <a:p>
            <a:r>
              <a:rPr lang="en-US" b="1" dirty="0"/>
              <a:t>Triple loss function</a:t>
            </a:r>
          </a:p>
        </p:txBody>
      </p:sp>
    </p:spTree>
    <p:extLst>
      <p:ext uri="{BB962C8B-B14F-4D97-AF65-F5344CB8AC3E}">
        <p14:creationId xmlns:p14="http://schemas.microsoft.com/office/powerpoint/2010/main" val="2220406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CA88C-997C-46EC-AC44-2246E6F6F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Single shot classification or limited shots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A2C7A48-71E7-4B75-BD39-F25561084E1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4723" y="2484725"/>
            <a:ext cx="1401979" cy="1401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- 69927] | Inception | Leonardo dicaprio, Leonardo dicaprio movies,  Leo dicaprio">
            <a:extLst>
              <a:ext uri="{FF2B5EF4-FFF2-40B4-BE49-F238E27FC236}">
                <a16:creationId xmlns:a16="http://schemas.microsoft.com/office/drawing/2014/main" id="{86CD1095-5CC2-4C4C-B9BD-0CF5990BB0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05"/>
          <a:stretch/>
        </p:blipFill>
        <p:spPr bwMode="auto">
          <a:xfrm>
            <a:off x="9623819" y="1932293"/>
            <a:ext cx="1118538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epp to Play Art Dealer Opposite Paltrow - artnet News">
            <a:extLst>
              <a:ext uri="{FF2B5EF4-FFF2-40B4-BE49-F238E27FC236}">
                <a16:creationId xmlns:a16="http://schemas.microsoft.com/office/drawing/2014/main" id="{22C1727F-A527-49E7-A073-C5005BEEDD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0207" y="2484725"/>
            <a:ext cx="1401979" cy="1401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itt lined up for Hollywood version of State of Play | Movies | The Guardian">
            <a:extLst>
              <a:ext uri="{FF2B5EF4-FFF2-40B4-BE49-F238E27FC236}">
                <a16:creationId xmlns:a16="http://schemas.microsoft.com/office/drawing/2014/main" id="{DEA735FA-04D0-4CB8-B9E4-22F17599F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9454" y="3886704"/>
            <a:ext cx="1192428" cy="1192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Angelina Jolie (@JoliePrivate) / Twitter">
            <a:extLst>
              <a:ext uri="{FF2B5EF4-FFF2-40B4-BE49-F238E27FC236}">
                <a16:creationId xmlns:a16="http://schemas.microsoft.com/office/drawing/2014/main" id="{1506B584-DC4E-44A1-A451-FC9A6DD78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7465" y="2484725"/>
            <a:ext cx="1401979" cy="1401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Why Nicole Kidman's hair is causing waves in The Undoing">
            <a:extLst>
              <a:ext uri="{FF2B5EF4-FFF2-40B4-BE49-F238E27FC236}">
                <a16:creationId xmlns:a16="http://schemas.microsoft.com/office/drawing/2014/main" id="{3B634005-799D-4A0D-8047-4A4FA1EDD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950" y="2487034"/>
            <a:ext cx="1401979" cy="1401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661C714E-4D8B-4189-A54F-34587FEDD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0239" y="2907362"/>
            <a:ext cx="700990" cy="700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875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833C2-3844-471D-9487-1AB2DACF1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Learning the similarity factor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3C711-EA04-43CA-A0F0-CCC7F0911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Distance function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 get two images and give a number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D(             ,             ) &gt; </a:t>
            </a:r>
            <a:r>
              <a:rPr lang="hy-AM" dirty="0"/>
              <a:t>Շ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	D(             ,             ) ≤ </a:t>
            </a:r>
            <a:r>
              <a:rPr lang="hy-AM" dirty="0"/>
              <a:t>Շ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Goal: Try to make this function in a way that images related</a:t>
            </a:r>
          </a:p>
          <a:p>
            <a:pPr marL="0" indent="0">
              <a:buNone/>
            </a:pPr>
            <a:r>
              <a:rPr lang="en-US" dirty="0"/>
              <a:t> to one person has the low distance to each other.</a:t>
            </a:r>
          </a:p>
        </p:txBody>
      </p:sp>
      <p:pic>
        <p:nvPicPr>
          <p:cNvPr id="4" name="Picture 6" descr="Image - 69927] | Inception | Leonardo dicaprio, Leonardo dicaprio movies,  Leo dicaprio">
            <a:extLst>
              <a:ext uri="{FF2B5EF4-FFF2-40B4-BE49-F238E27FC236}">
                <a16:creationId xmlns:a16="http://schemas.microsoft.com/office/drawing/2014/main" id="{A6DC509A-9C36-472A-961B-01F717A4DF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05"/>
          <a:stretch/>
        </p:blipFill>
        <p:spPr bwMode="auto">
          <a:xfrm>
            <a:off x="2333784" y="2592963"/>
            <a:ext cx="563227" cy="66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0" descr="Pitt lined up for Hollywood version of State of Play | Movies | The Guardian">
            <a:extLst>
              <a:ext uri="{FF2B5EF4-FFF2-40B4-BE49-F238E27FC236}">
                <a16:creationId xmlns:a16="http://schemas.microsoft.com/office/drawing/2014/main" id="{65B9FE32-59C7-43D6-8C04-6CAD3E618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597" y="2592963"/>
            <a:ext cx="667473" cy="66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Image - 69927] | Inception | Leonardo dicaprio, Leonardo dicaprio movies,  Leo dicaprio">
            <a:extLst>
              <a:ext uri="{FF2B5EF4-FFF2-40B4-BE49-F238E27FC236}">
                <a16:creationId xmlns:a16="http://schemas.microsoft.com/office/drawing/2014/main" id="{0E822ABB-D71D-4F2E-8FEA-B259006B0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05"/>
          <a:stretch/>
        </p:blipFill>
        <p:spPr bwMode="auto">
          <a:xfrm>
            <a:off x="2333784" y="3717491"/>
            <a:ext cx="563227" cy="66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3B3C5B8-DA78-4448-847D-CF45FE2C6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598" y="3717491"/>
            <a:ext cx="667472" cy="667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1C0412D-DF95-425E-A187-33A1ABB9213D}"/>
              </a:ext>
            </a:extLst>
          </p:cNvPr>
          <p:cNvGrpSpPr/>
          <p:nvPr/>
        </p:nvGrpSpPr>
        <p:grpSpPr>
          <a:xfrm>
            <a:off x="9929993" y="1375207"/>
            <a:ext cx="1218298" cy="4351338"/>
            <a:chOff x="9708321" y="538598"/>
            <a:chExt cx="1404288" cy="6060206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E8AA5C69-EC61-4CE1-BEBA-D9D1DAFDE48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0630" y="538598"/>
              <a:ext cx="1401979" cy="1401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Depp to Play Art Dealer Opposite Paltrow - artnet News">
              <a:extLst>
                <a:ext uri="{FF2B5EF4-FFF2-40B4-BE49-F238E27FC236}">
                  <a16:creationId xmlns:a16="http://schemas.microsoft.com/office/drawing/2014/main" id="{CD0DA4A3-13FB-4717-B03E-7EA448131D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0630" y="3644082"/>
              <a:ext cx="1401979" cy="1401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12" descr="Angelina Jolie (@JoliePrivate) / Twitter">
              <a:extLst>
                <a:ext uri="{FF2B5EF4-FFF2-40B4-BE49-F238E27FC236}">
                  <a16:creationId xmlns:a16="http://schemas.microsoft.com/office/drawing/2014/main" id="{AA90222A-5CE5-4D02-8E74-FD7F338795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0630" y="2091340"/>
              <a:ext cx="1401979" cy="1401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4" descr="Why Nicole Kidman's hair is causing waves in The Undoing">
              <a:extLst>
                <a:ext uri="{FF2B5EF4-FFF2-40B4-BE49-F238E27FC236}">
                  <a16:creationId xmlns:a16="http://schemas.microsoft.com/office/drawing/2014/main" id="{02F6AE8A-90A9-49C6-8DC5-9B63B86221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08321" y="5196825"/>
              <a:ext cx="1401979" cy="1401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Callout: Left-Right Arrow 14" descr="77&#10;">
            <a:extLst>
              <a:ext uri="{FF2B5EF4-FFF2-40B4-BE49-F238E27FC236}">
                <a16:creationId xmlns:a16="http://schemas.microsoft.com/office/drawing/2014/main" id="{21F52C17-E940-462D-B345-067276EE1627}"/>
              </a:ext>
            </a:extLst>
          </p:cNvPr>
          <p:cNvSpPr/>
          <p:nvPr/>
        </p:nvSpPr>
        <p:spPr>
          <a:xfrm rot="1086638">
            <a:off x="8324387" y="3741692"/>
            <a:ext cx="1344321" cy="285994"/>
          </a:xfrm>
          <a:prstGeom prst="leftRightArrowCallout">
            <a:avLst>
              <a:gd name="adj1" fmla="val 25000"/>
              <a:gd name="adj2" fmla="val 25000"/>
              <a:gd name="adj3" fmla="val 51087"/>
              <a:gd name="adj4" fmla="val 19557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16" name="Picture 6" descr="Image - 69927] | Inception | Leonardo dicaprio, Leonardo dicaprio movies,  Leo dicaprio">
            <a:extLst>
              <a:ext uri="{FF2B5EF4-FFF2-40B4-BE49-F238E27FC236}">
                <a16:creationId xmlns:a16="http://schemas.microsoft.com/office/drawing/2014/main" id="{A794E6E8-2BF2-44BF-8BAB-73D3F547EF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05"/>
          <a:stretch/>
        </p:blipFill>
        <p:spPr bwMode="auto">
          <a:xfrm>
            <a:off x="6956749" y="2830082"/>
            <a:ext cx="1050641" cy="1245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Callout: Left-Right Arrow 16" descr="77&#10;">
            <a:extLst>
              <a:ext uri="{FF2B5EF4-FFF2-40B4-BE49-F238E27FC236}">
                <a16:creationId xmlns:a16="http://schemas.microsoft.com/office/drawing/2014/main" id="{5EEF1134-F0C5-4F29-BB2F-60A450F66CB0}"/>
              </a:ext>
            </a:extLst>
          </p:cNvPr>
          <p:cNvSpPr/>
          <p:nvPr/>
        </p:nvSpPr>
        <p:spPr>
          <a:xfrm rot="21125820">
            <a:off x="8330085" y="3117438"/>
            <a:ext cx="1344321" cy="285994"/>
          </a:xfrm>
          <a:prstGeom prst="leftRightArrowCallout">
            <a:avLst>
              <a:gd name="adj1" fmla="val 25000"/>
              <a:gd name="adj2" fmla="val 25000"/>
              <a:gd name="adj3" fmla="val 51087"/>
              <a:gd name="adj4" fmla="val 19557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8" name="Callout: Left-Right Arrow 17" descr="77&#10;">
            <a:extLst>
              <a:ext uri="{FF2B5EF4-FFF2-40B4-BE49-F238E27FC236}">
                <a16:creationId xmlns:a16="http://schemas.microsoft.com/office/drawing/2014/main" id="{3A94F546-8C11-42DE-80BE-535D721B3D6A}"/>
              </a:ext>
            </a:extLst>
          </p:cNvPr>
          <p:cNvSpPr/>
          <p:nvPr/>
        </p:nvSpPr>
        <p:spPr>
          <a:xfrm rot="1780301">
            <a:off x="8324388" y="4431405"/>
            <a:ext cx="1344321" cy="285994"/>
          </a:xfrm>
          <a:prstGeom prst="leftRightArrowCallout">
            <a:avLst>
              <a:gd name="adj1" fmla="val 25000"/>
              <a:gd name="adj2" fmla="val 25000"/>
              <a:gd name="adj3" fmla="val 51087"/>
              <a:gd name="adj4" fmla="val 19557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9" name="Callout: Left-Right Arrow 18" descr="77&#10;">
            <a:extLst>
              <a:ext uri="{FF2B5EF4-FFF2-40B4-BE49-F238E27FC236}">
                <a16:creationId xmlns:a16="http://schemas.microsoft.com/office/drawing/2014/main" id="{2513D52B-7A02-45DB-B769-5A6420AAD59A}"/>
              </a:ext>
            </a:extLst>
          </p:cNvPr>
          <p:cNvSpPr/>
          <p:nvPr/>
        </p:nvSpPr>
        <p:spPr>
          <a:xfrm rot="20326934">
            <a:off x="8190453" y="2407865"/>
            <a:ext cx="1566543" cy="290337"/>
          </a:xfrm>
          <a:prstGeom prst="leftRightArrowCallout">
            <a:avLst>
              <a:gd name="adj1" fmla="val 25000"/>
              <a:gd name="adj2" fmla="val 25000"/>
              <a:gd name="adj3" fmla="val 51087"/>
              <a:gd name="adj4" fmla="val 37262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0.1</a:t>
            </a:r>
          </a:p>
        </p:txBody>
      </p:sp>
    </p:spTree>
    <p:extLst>
      <p:ext uri="{BB962C8B-B14F-4D97-AF65-F5344CB8AC3E}">
        <p14:creationId xmlns:p14="http://schemas.microsoft.com/office/powerpoint/2010/main" val="1336225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2" name="Picture 6" descr="Face Recognition Using Nearest Feature Space Embedding | Semantic Scholar">
            <a:extLst>
              <a:ext uri="{FF2B5EF4-FFF2-40B4-BE49-F238E27FC236}">
                <a16:creationId xmlns:a16="http://schemas.microsoft.com/office/drawing/2014/main" id="{F3C6E9CE-6028-4FF7-8CC6-328CBE9F1D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1215" y="232977"/>
            <a:ext cx="5442520" cy="3117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2DF95A-3872-4645-88D3-88B0D0F32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Triple loss function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E818B-D30C-42CB-BC54-48F36ACBA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91" y="4659278"/>
            <a:ext cx="9984509" cy="456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a</a:t>
            </a:r>
            <a:r>
              <a:rPr lang="en-US" sz="2000" dirty="0"/>
              <a:t>nchor                </a:t>
            </a:r>
            <a:r>
              <a:rPr lang="en-US" sz="2000" b="1" dirty="0"/>
              <a:t>p</a:t>
            </a:r>
            <a:r>
              <a:rPr lang="en-US" sz="2000" dirty="0"/>
              <a:t>ositive                                        	              </a:t>
            </a:r>
            <a:r>
              <a:rPr lang="en-US" sz="2000" b="1" dirty="0"/>
              <a:t>a</a:t>
            </a:r>
            <a:r>
              <a:rPr lang="en-US" sz="2000" dirty="0"/>
              <a:t>nchor               </a:t>
            </a:r>
            <a:r>
              <a:rPr lang="en-US" sz="2000" b="1" dirty="0"/>
              <a:t>n</a:t>
            </a:r>
            <a:r>
              <a:rPr lang="en-US" sz="2000" dirty="0"/>
              <a:t>egative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FC2D32-B7FB-450D-B4E1-4F652EE33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424" y="5255587"/>
            <a:ext cx="9678751" cy="93358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3B51029-16A6-4DC8-8279-150505A5F139}"/>
              </a:ext>
            </a:extLst>
          </p:cNvPr>
          <p:cNvGrpSpPr/>
          <p:nvPr/>
        </p:nvGrpSpPr>
        <p:grpSpPr>
          <a:xfrm>
            <a:off x="1369291" y="3429000"/>
            <a:ext cx="9066658" cy="2068221"/>
            <a:chOff x="1562671" y="2708935"/>
            <a:chExt cx="9066658" cy="2068221"/>
          </a:xfrm>
        </p:grpSpPr>
        <p:pic>
          <p:nvPicPr>
            <p:cNvPr id="8" name="Picture 6" descr="Image - 69927] | Inception | Leonardo dicaprio, Leonardo dicaprio movies,  Leo dicaprio">
              <a:extLst>
                <a:ext uri="{FF2B5EF4-FFF2-40B4-BE49-F238E27FC236}">
                  <a16:creationId xmlns:a16="http://schemas.microsoft.com/office/drawing/2014/main" id="{C0109F35-8D1F-4710-86DF-FC84E4FD21E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705"/>
            <a:stretch/>
          </p:blipFill>
          <p:spPr bwMode="auto">
            <a:xfrm>
              <a:off x="1562671" y="2709428"/>
              <a:ext cx="894202" cy="1059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Pitt lined up for Hollywood version of State of Play | Movies | The Guardian">
              <a:extLst>
                <a:ext uri="{FF2B5EF4-FFF2-40B4-BE49-F238E27FC236}">
                  <a16:creationId xmlns:a16="http://schemas.microsoft.com/office/drawing/2014/main" id="{A9FBA8CA-76AE-45CB-997A-270DD5576E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69128" y="2708935"/>
              <a:ext cx="1060201" cy="1060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 descr="Image - 69927] | Inception | Leonardo dicaprio, Leonardo dicaprio movies,  Leo dicaprio">
              <a:extLst>
                <a:ext uri="{FF2B5EF4-FFF2-40B4-BE49-F238E27FC236}">
                  <a16:creationId xmlns:a16="http://schemas.microsoft.com/office/drawing/2014/main" id="{D930CC88-0D2E-440D-88CE-7D745EB0911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705"/>
            <a:stretch/>
          </p:blipFill>
          <p:spPr bwMode="auto">
            <a:xfrm>
              <a:off x="7877136" y="2712243"/>
              <a:ext cx="894201" cy="10597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503075B8-F459-46B4-A678-364C15B02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54664" y="2774083"/>
              <a:ext cx="1060201" cy="1060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A910D1A-29AB-4EFF-A5F5-19B713689268}"/>
                </a:ext>
              </a:extLst>
            </p:cNvPr>
            <p:cNvCxnSpPr/>
            <p:nvPr/>
          </p:nvCxnSpPr>
          <p:spPr>
            <a:xfrm flipV="1">
              <a:off x="1939636" y="4343046"/>
              <a:ext cx="0" cy="4341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707304-C7CF-48FC-A2F3-CD7F4897EC67}"/>
                </a:ext>
              </a:extLst>
            </p:cNvPr>
            <p:cNvCxnSpPr/>
            <p:nvPr/>
          </p:nvCxnSpPr>
          <p:spPr>
            <a:xfrm flipV="1">
              <a:off x="3403600" y="4304145"/>
              <a:ext cx="0" cy="4341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E14FF3C-7DAB-45AF-B254-E937344554FB}"/>
                </a:ext>
              </a:extLst>
            </p:cNvPr>
            <p:cNvCxnSpPr/>
            <p:nvPr/>
          </p:nvCxnSpPr>
          <p:spPr>
            <a:xfrm flipV="1">
              <a:off x="8395855" y="4304145"/>
              <a:ext cx="0" cy="4341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8D17B0-318A-441A-972F-F9B8F7A69AD1}"/>
                </a:ext>
              </a:extLst>
            </p:cNvPr>
            <p:cNvCxnSpPr/>
            <p:nvPr/>
          </p:nvCxnSpPr>
          <p:spPr>
            <a:xfrm flipV="1">
              <a:off x="9781309" y="4343046"/>
              <a:ext cx="0" cy="4341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06744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3C088-8758-461A-9874-D13AD77AC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036" y="392835"/>
            <a:ext cx="10515600" cy="1325563"/>
          </a:xfrm>
        </p:spPr>
        <p:txBody>
          <a:bodyPr/>
          <a:lstStyle/>
          <a:p>
            <a:r>
              <a:rPr lang="en-US" b="1" i="0" dirty="0">
                <a:solidFill>
                  <a:srgbClr val="292929"/>
                </a:solidFill>
                <a:effectLst/>
                <a:latin typeface="source-serif-pro"/>
              </a:rPr>
              <a:t>Siamese Networks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C8AE3-29BA-4D5C-B3AB-9845DC6CD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2903393"/>
          </a:xfrm>
        </p:spPr>
        <p:txBody>
          <a:bodyPr/>
          <a:lstStyle/>
          <a:p>
            <a:r>
              <a:rPr lang="en-US" b="0" i="0" dirty="0">
                <a:solidFill>
                  <a:srgbClr val="292929"/>
                </a:solidFill>
                <a:effectLst/>
                <a:latin typeface="source-serif-pro"/>
              </a:rPr>
              <a:t>Siamese Networks are a class of neural networks capable of one-shot learning.</a:t>
            </a:r>
          </a:p>
          <a:p>
            <a:r>
              <a:rPr lang="en-US" b="0" i="0" dirty="0">
                <a:solidFill>
                  <a:srgbClr val="292929"/>
                </a:solidFill>
                <a:effectLst/>
                <a:latin typeface="source-serif-pro"/>
              </a:rPr>
              <a:t>we stop with the dense layers</a:t>
            </a:r>
          </a:p>
          <a:p>
            <a:r>
              <a:rPr lang="en-US" b="0" i="0" dirty="0">
                <a:solidFill>
                  <a:srgbClr val="292929"/>
                </a:solidFill>
                <a:effectLst/>
                <a:latin typeface="source-serif-pro"/>
              </a:rPr>
              <a:t>only one network</a:t>
            </a:r>
            <a:r>
              <a:rPr lang="en-US" dirty="0">
                <a:solidFill>
                  <a:srgbClr val="292929"/>
                </a:solidFill>
                <a:latin typeface="source-serif-pro"/>
              </a:rPr>
              <a:t> for all images</a:t>
            </a:r>
            <a:endParaRPr lang="en-US" dirty="0"/>
          </a:p>
        </p:txBody>
      </p:sp>
      <p:pic>
        <p:nvPicPr>
          <p:cNvPr id="9222" name="Picture 6">
            <a:extLst>
              <a:ext uri="{FF2B5EF4-FFF2-40B4-BE49-F238E27FC236}">
                <a16:creationId xmlns:a16="http://schemas.microsoft.com/office/drawing/2014/main" id="{EB5C1B92-A883-4486-B90B-2E331AC70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700" y="1736147"/>
            <a:ext cx="5173510" cy="3082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72066D2-D298-4854-B5C4-C377D2B33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848" y="5021841"/>
            <a:ext cx="9365472" cy="824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952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640BF-FC61-442E-829F-76AD46804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Transfer learning</a:t>
            </a:r>
          </a:p>
        </p:txBody>
      </p:sp>
      <p:pic>
        <p:nvPicPr>
          <p:cNvPr id="8194" name="Picture 2" descr="Transfer Learning Guide: A Practical Tutorial With Examples for Images and  Text in Keras - neptune.ai">
            <a:extLst>
              <a:ext uri="{FF2B5EF4-FFF2-40B4-BE49-F238E27FC236}">
                <a16:creationId xmlns:a16="http://schemas.microsoft.com/office/drawing/2014/main" id="{2BC000D9-9841-4A26-84E0-FE4533C4E20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8882" y="3207527"/>
            <a:ext cx="5977081" cy="3285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C090883-E1E3-4E71-9181-0BFF83E0FDCC}"/>
              </a:ext>
            </a:extLst>
          </p:cNvPr>
          <p:cNvSpPr txBox="1">
            <a:spLocks/>
          </p:cNvSpPr>
          <p:nvPr/>
        </p:nvSpPr>
        <p:spPr>
          <a:xfrm>
            <a:off x="838199" y="1825626"/>
            <a:ext cx="9737437" cy="149023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b="0" i="0" dirty="0">
                <a:solidFill>
                  <a:srgbClr val="222222"/>
                </a:solidFill>
                <a:effectLst/>
                <a:latin typeface="Lato" panose="020F0502020204030203" pitchFamily="34" charset="0"/>
              </a:rPr>
              <a:t>Pre-Trained Models for Image Classification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222"/>
                </a:solidFill>
                <a:effectLst/>
                <a:latin typeface="Lato" panose="020F0502020204030203" pitchFamily="34" charset="0"/>
              </a:rPr>
              <a:t>VGG-16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222"/>
                </a:solidFill>
                <a:effectLst/>
                <a:latin typeface="Lato" panose="020F0502020204030203" pitchFamily="34" charset="0"/>
              </a:rPr>
              <a:t>ResNet50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222"/>
                </a:solidFill>
                <a:effectLst/>
                <a:latin typeface="Lato" panose="020F0502020204030203" pitchFamily="34" charset="0"/>
              </a:rPr>
              <a:t>Inceptionv3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222222"/>
                </a:solidFill>
                <a:effectLst/>
                <a:latin typeface="Lato" panose="020F0502020204030203" pitchFamily="34" charset="0"/>
              </a:rPr>
              <a:t>EfficientNet</a:t>
            </a:r>
            <a:endParaRPr lang="en-US" b="0" i="0" dirty="0">
              <a:solidFill>
                <a:srgbClr val="222222"/>
              </a:solidFill>
              <a:effectLst/>
              <a:latin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13845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C06FE-ECF5-44D0-8FE4-B603DA8DC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Implementation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92FEC-30FE-4A5B-BB5E-921FBC04E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32339"/>
          </a:xfrm>
        </p:spPr>
        <p:txBody>
          <a:bodyPr/>
          <a:lstStyle/>
          <a:p>
            <a:r>
              <a:rPr lang="en-US" b="0" i="0" dirty="0">
                <a:effectLst/>
                <a:latin typeface="Inter"/>
              </a:rPr>
              <a:t>Database of faces </a:t>
            </a:r>
            <a:r>
              <a:rPr lang="en-US" dirty="0">
                <a:latin typeface="Inter"/>
              </a:rPr>
              <a:t>Provide by </a:t>
            </a:r>
            <a:r>
              <a:rPr lang="en-US" b="0" i="0" dirty="0">
                <a:effectLst/>
                <a:latin typeface="Inter"/>
              </a:rPr>
              <a:t>AT&amp;T Laboratories Cambridge </a:t>
            </a:r>
            <a:r>
              <a:rPr lang="en-US" dirty="0">
                <a:latin typeface="Inter"/>
              </a:rPr>
              <a:t>on Kaggle</a:t>
            </a:r>
          </a:p>
          <a:p>
            <a:r>
              <a:rPr lang="en-US" b="0" i="0" dirty="0">
                <a:effectLst/>
                <a:latin typeface="Inter"/>
              </a:rPr>
              <a:t>There are 400 different images of 40 distinct subjects.</a:t>
            </a:r>
          </a:p>
          <a:p>
            <a:r>
              <a:rPr lang="en-US" b="0" i="0" dirty="0">
                <a:effectLst/>
                <a:latin typeface="Inter"/>
              </a:rPr>
              <a:t>For some subjects, the images were taken at different times, varying the lighting, facial expressions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1844083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881</TotalTime>
  <Words>307</Words>
  <Application>Microsoft Office PowerPoint</Application>
  <PresentationFormat>Widescreen</PresentationFormat>
  <Paragraphs>69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Calibri</vt:lpstr>
      <vt:lpstr>Calibri Light</vt:lpstr>
      <vt:lpstr>Garamond</vt:lpstr>
      <vt:lpstr>Inter</vt:lpstr>
      <vt:lpstr>Lato</vt:lpstr>
      <vt:lpstr>source-serif-pro</vt:lpstr>
      <vt:lpstr>Office Theme</vt:lpstr>
      <vt:lpstr>Organic</vt:lpstr>
      <vt:lpstr>Image Classification (Face Recognition)    Memo Ghazi</vt:lpstr>
      <vt:lpstr>Image Classification</vt:lpstr>
      <vt:lpstr>Image Classification with simple Neural Network</vt:lpstr>
      <vt:lpstr>Kernel (filter)</vt:lpstr>
      <vt:lpstr>Kernel </vt:lpstr>
      <vt:lpstr>Pooling</vt:lpstr>
      <vt:lpstr>Convolutional Neural Network</vt:lpstr>
      <vt:lpstr>Face recognition</vt:lpstr>
      <vt:lpstr>Single shot classification or limited shots</vt:lpstr>
      <vt:lpstr>Learning the similarity factor</vt:lpstr>
      <vt:lpstr>Triple loss function</vt:lpstr>
      <vt:lpstr>Siamese Networks</vt:lpstr>
      <vt:lpstr>Transfer learning</vt:lpstr>
      <vt:lpstr>Implementation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29</cp:revision>
  <dcterms:created xsi:type="dcterms:W3CDTF">2022-10-30T11:19:26Z</dcterms:created>
  <dcterms:modified xsi:type="dcterms:W3CDTF">2022-10-31T14:15:16Z</dcterms:modified>
</cp:coreProperties>
</file>